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81" r:id="rId7"/>
    <p:sldId id="262" r:id="rId8"/>
    <p:sldId id="282" r:id="rId9"/>
    <p:sldId id="263" r:id="rId10"/>
    <p:sldId id="283" r:id="rId11"/>
    <p:sldId id="284" r:id="rId12"/>
    <p:sldId id="285" r:id="rId13"/>
    <p:sldId id="264" r:id="rId14"/>
    <p:sldId id="280" r:id="rId15"/>
    <p:sldId id="286" r:id="rId16"/>
    <p:sldId id="265" r:id="rId17"/>
    <p:sldId id="267" r:id="rId18"/>
    <p:sldId id="268" r:id="rId19"/>
    <p:sldId id="270" r:id="rId20"/>
    <p:sldId id="269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66" r:id="rId30"/>
    <p:sldId id="279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327C"/>
    <a:srgbClr val="1E62B1"/>
    <a:srgbClr val="1E61B1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5732CF-D96E-15DB-F441-31B1B1DB15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D0B3C24-E1C4-A17F-3CFB-6A7384C164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6E9C6F-54E0-617E-E652-8C6DF0967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A8D5753-9846-CB49-A027-C299992B1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93CD83-427C-5ED5-8FF6-D7C1341F8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0309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007092-89D4-5120-64DC-51B69EE73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BA267BE-752E-2A03-474B-5714D0EFB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4161A35-AA76-A985-5C2E-AB0E68261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7BFCCD2-508B-607D-DCDC-C463ECCF5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335111-A12D-6D92-5DBE-D3ACD9865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4052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E2A6AD-93F4-7A5B-2A99-2FD6A81D0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0E4E30-3074-3A2C-9F3A-069D9BADA3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5B19474-8FFE-13F3-35A4-88050ADAD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498E8E6-4385-4328-35DE-E6C477BFC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AF3D5C-AA65-07C6-657E-184CFB934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42868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3E9B64-B16D-6758-3CBA-F5939C99E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7C479E-6B21-7C55-490A-B392E38196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47B1F54-8A36-9C63-62DC-63BD192948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4D75A4-1B18-E29A-D882-719CD94CD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EA44081-954E-DD69-7925-B598027A6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C6555D2-011E-53A9-FD44-8EB58C6D3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181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2CDED-C069-F3F8-33A3-43A5450C8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C41CBE-FB40-10CB-A4C5-D85BEA402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7DD1B28-7F4C-743E-5942-5F20F4025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8D18771-FD89-54D5-8A44-B9B9E91805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C761842-37AB-80FF-D5C5-4C558FB00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9FCD438-C073-11BD-3C16-1AE067C25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851D90E-9B47-5A33-E97B-E33FD4AD9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7852FC9C-397E-AE08-D845-F91E1C8BB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091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A588F8-9DA3-A535-976D-2C52038DC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EDE3815-7CDF-C1B4-7787-487CC706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5B50783-DB66-D062-CDD0-DCD6C37EF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E66CB77-FECD-2BA0-064C-B21C37468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9084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92C7EA9-8993-3168-B77D-D059A9CA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00DC37E-AD94-5460-C559-3D993774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3D04E6-41EA-D975-5535-9B94D78EF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8800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17FBF9-F591-5ED3-8B2D-56174A09C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58B364-B6E6-EF88-3226-1EDA97A00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8293D05-F65E-4C4B-D7D8-F466FA33D4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B8CE09-6D33-A26C-80C2-AA0412530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C32FBF9-577A-5113-00A9-A241547C7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3F4256C-2CCE-0C13-1EFA-7D103B7C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1507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D26F79-238C-FF57-214C-D9086D39D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E90E7D2-3A0C-E50A-1779-7924EF35CA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07CAD5-B333-812D-979A-CE59AC054D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A7D2E44-A562-0F39-A5A0-6205FF350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F65A352-D8A3-AAA3-95A6-D9E4D9A25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F714C7C-BE12-61AE-8215-8340C9762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3022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CAFB3D-68D6-E486-9AF2-7FA3F77B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A65BC-275A-7037-6072-1EF3D82B05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10D87D8-92A8-4796-9232-7D35D4ABA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EF1C69-6379-3323-A1D5-2440E0611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5A1FAC0-B5E4-668D-8EA7-A2BDA4E4E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100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0BA6239-BC87-D85D-F7FF-FBA42C1D81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BB681C5-A508-F9AF-1166-1E69654A32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DD0653-AE85-EEE8-1DCE-BE6003DDB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BE72C1-2363-07F6-00B5-F94835BE4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C952C49-CFC1-1E4B-6BBA-6DC99F406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7186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303384-7DCE-BAB1-B60E-3C78896C5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161E0D8-AE03-42C8-860B-F2E96D562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8DD8BCA-EFFE-97FF-FC19-5E70304E5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7AD283-A2DA-1596-81F6-371DEC338B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137AF1F-4D68-E883-D4FE-332DD71C0A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4130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18044574-D3ED-C88C-CC14-B4B6F705D3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8AB30C-84B5-9F67-AF59-4F1C5B032985}"/>
              </a:ext>
            </a:extLst>
          </p:cNvPr>
          <p:cNvSpPr txBox="1"/>
          <p:nvPr/>
        </p:nvSpPr>
        <p:spPr>
          <a:xfrm>
            <a:off x="6096000" y="1513133"/>
            <a:ext cx="512023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автоматизированной системы учёта материалов на складе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«MaterialHouse»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4BFAFA-356C-8D89-D951-B05E88D19244}"/>
              </a:ext>
            </a:extLst>
          </p:cNvPr>
          <p:cNvSpPr txBox="1"/>
          <p:nvPr/>
        </p:nvSpPr>
        <p:spPr>
          <a:xfrm>
            <a:off x="6311899" y="571417"/>
            <a:ext cx="52822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Дипломный проект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6F252B-49E5-B9B8-7251-82355FF3A577}"/>
              </a:ext>
            </a:extLst>
          </p:cNvPr>
          <p:cNvSpPr txBox="1"/>
          <p:nvPr/>
        </p:nvSpPr>
        <p:spPr>
          <a:xfrm>
            <a:off x="6096000" y="4593812"/>
            <a:ext cx="2370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Трапезников Е. В.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9BA0E8-B14D-79F6-B343-717755E71F2A}"/>
              </a:ext>
            </a:extLst>
          </p:cNvPr>
          <p:cNvSpPr txBox="1"/>
          <p:nvPr/>
        </p:nvSpPr>
        <p:spPr>
          <a:xfrm>
            <a:off x="8845900" y="4593812"/>
            <a:ext cx="23703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 группы 23-ИСП-4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/1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Клименков Д.А.</a:t>
            </a:r>
          </a:p>
        </p:txBody>
      </p:sp>
      <p:pic>
        <p:nvPicPr>
          <p:cNvPr id="11" name="Рисунок 10" descr="Изображение выглядит как текст, электроника, снимок экрана, компьютерный монитор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0684D11-C800-7028-7762-5C2009244A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87" y="1513133"/>
            <a:ext cx="5586520" cy="3724347"/>
          </a:xfrm>
          <a:prstGeom prst="rect">
            <a:avLst/>
          </a:prstGeom>
        </p:spPr>
      </p:pic>
      <p:pic>
        <p:nvPicPr>
          <p:cNvPr id="3" name="Рисунок 2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1C4BBB73-9250-3DA4-3A84-D18A7F03F2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650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A7D246-BA8C-38B6-F549-B4C36B85AB99}"/>
              </a:ext>
            </a:extLst>
          </p:cNvPr>
          <p:cNvSpPr txBox="1"/>
          <p:nvPr/>
        </p:nvSpPr>
        <p:spPr>
          <a:xfrm>
            <a:off x="7912100" y="571417"/>
            <a:ext cx="36820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E29112-B19C-F811-5B16-2A93D2372D39}"/>
              </a:ext>
            </a:extLst>
          </p:cNvPr>
          <p:cNvSpPr txBox="1"/>
          <p:nvPr/>
        </p:nvSpPr>
        <p:spPr>
          <a:xfrm>
            <a:off x="710214" y="1340858"/>
            <a:ext cx="1088395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	Разработать автоматизированную систему учёта материалов на складе «MaterialHouse», которая обеспечивает прозрачность движения товарно-материальных ценностей, оперативный контроль остатков и автоматизацию инвентаризационных процессов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3ABE294-5E8E-B118-A5B6-9C728F663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122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FD03146-9593-2EF6-4B43-28FF36D36FBF}"/>
              </a:ext>
            </a:extLst>
          </p:cNvPr>
          <p:cNvSpPr txBox="1"/>
          <p:nvPr/>
        </p:nvSpPr>
        <p:spPr>
          <a:xfrm>
            <a:off x="9303828" y="542835"/>
            <a:ext cx="24628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C94925F7-BC51-633F-A91B-3ED4ADA75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1710" y="3414710"/>
            <a:ext cx="28579" cy="28579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E39DCBEA-B63E-4AD5-9B3F-15FA577F9A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108" y="1737597"/>
            <a:ext cx="10689203" cy="335422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AAF9977-CA1A-998A-1CA1-951CFD6C900E}"/>
              </a:ext>
            </a:extLst>
          </p:cNvPr>
          <p:cNvSpPr txBox="1"/>
          <p:nvPr/>
        </p:nvSpPr>
        <p:spPr>
          <a:xfrm>
            <a:off x="914400" y="3702369"/>
            <a:ext cx="19278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 бизнес-процессов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B7B634-76D8-E8B0-1D71-FBBC911FB6D3}"/>
              </a:ext>
            </a:extLst>
          </p:cNvPr>
          <p:cNvSpPr txBox="1"/>
          <p:nvPr/>
        </p:nvSpPr>
        <p:spPr>
          <a:xfrm>
            <a:off x="3019553" y="3702369"/>
            <a:ext cx="19278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Выбор инструментария и средств разработки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29F460-25E6-36A8-B51A-1B044EB63949}"/>
              </a:ext>
            </a:extLst>
          </p:cNvPr>
          <p:cNvSpPr txBox="1"/>
          <p:nvPr/>
        </p:nvSpPr>
        <p:spPr>
          <a:xfrm>
            <a:off x="5241741" y="3702369"/>
            <a:ext cx="17370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приложения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D584832-8B00-5221-A12E-EEF8F2CF86CA}"/>
              </a:ext>
            </a:extLst>
          </p:cNvPr>
          <p:cNvSpPr txBox="1"/>
          <p:nvPr/>
        </p:nvSpPr>
        <p:spPr>
          <a:xfrm>
            <a:off x="7323515" y="3702369"/>
            <a:ext cx="1726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EB7DCA-8F1D-AAE6-A9C2-DA42A2EAB3AB}"/>
              </a:ext>
            </a:extLst>
          </p:cNvPr>
          <p:cNvSpPr txBox="1"/>
          <p:nvPr/>
        </p:nvSpPr>
        <p:spPr>
          <a:xfrm>
            <a:off x="9394887" y="3702368"/>
            <a:ext cx="18532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Экономическое обоснование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6CF31F-90D5-4E88-0B16-56EFB542E586}"/>
              </a:ext>
            </a:extLst>
          </p:cNvPr>
          <p:cNvSpPr txBox="1"/>
          <p:nvPr/>
        </p:nvSpPr>
        <p:spPr>
          <a:xfrm>
            <a:off x="1332608" y="3153099"/>
            <a:ext cx="10930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F1E536-10E2-3316-1926-5E3625A5AFDC}"/>
              </a:ext>
            </a:extLst>
          </p:cNvPr>
          <p:cNvSpPr txBox="1"/>
          <p:nvPr/>
        </p:nvSpPr>
        <p:spPr>
          <a:xfrm>
            <a:off x="3538898" y="3150568"/>
            <a:ext cx="889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C19014-543B-B74D-4F30-5AD858433ABA}"/>
              </a:ext>
            </a:extLst>
          </p:cNvPr>
          <p:cNvSpPr txBox="1"/>
          <p:nvPr/>
        </p:nvSpPr>
        <p:spPr>
          <a:xfrm>
            <a:off x="5508747" y="3170897"/>
            <a:ext cx="11745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850EBC-6D9E-CF51-30D3-B86A5C854D4A}"/>
              </a:ext>
            </a:extLst>
          </p:cNvPr>
          <p:cNvSpPr txBox="1"/>
          <p:nvPr/>
        </p:nvSpPr>
        <p:spPr>
          <a:xfrm>
            <a:off x="7742277" y="3176936"/>
            <a:ext cx="889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0C2F43-BA5F-8BF2-3333-ED28E4CCBFDA}"/>
              </a:ext>
            </a:extLst>
          </p:cNvPr>
          <p:cNvSpPr txBox="1"/>
          <p:nvPr/>
        </p:nvSpPr>
        <p:spPr>
          <a:xfrm>
            <a:off x="9380598" y="3167389"/>
            <a:ext cx="18818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pic>
        <p:nvPicPr>
          <p:cNvPr id="3" name="Рисунок 2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AD07CC9-4F19-4BD0-ADA6-855B69AF4B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935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9C7790-9105-5CFC-FC4E-D9ABF2D844C8}"/>
              </a:ext>
            </a:extLst>
          </p:cNvPr>
          <p:cNvSpPr txBox="1"/>
          <p:nvPr/>
        </p:nvSpPr>
        <p:spPr>
          <a:xfrm>
            <a:off x="1405288" y="571417"/>
            <a:ext cx="101888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Требования к разрабатываемой системе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6DFA76CF-6CA5-ADCD-03D5-8C8D5E082A08}"/>
              </a:ext>
            </a:extLst>
          </p:cNvPr>
          <p:cNvCxnSpPr>
            <a:cxnSpLocks/>
          </p:cNvCxnSpPr>
          <p:nvPr/>
        </p:nvCxnSpPr>
        <p:spPr>
          <a:xfrm>
            <a:off x="1790700" y="1620282"/>
            <a:ext cx="0" cy="3219137"/>
          </a:xfrm>
          <a:prstGeom prst="line">
            <a:avLst/>
          </a:prstGeom>
          <a:ln>
            <a:solidFill>
              <a:srgbClr val="0332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EE45BF-E4E0-0593-4D73-62737F872323}"/>
              </a:ext>
            </a:extLst>
          </p:cNvPr>
          <p:cNvSpPr txBox="1"/>
          <p:nvPr/>
        </p:nvSpPr>
        <p:spPr>
          <a:xfrm>
            <a:off x="1925591" y="2335224"/>
            <a:ext cx="5016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Управление материалами и категориями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25144F-4314-999B-49FB-C7C1989A4165}"/>
              </a:ext>
            </a:extLst>
          </p:cNvPr>
          <p:cNvSpPr txBox="1"/>
          <p:nvPr/>
        </p:nvSpPr>
        <p:spPr>
          <a:xfrm>
            <a:off x="1925591" y="2726810"/>
            <a:ext cx="9183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заявок на приход и расход материалов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8CEE2A-62D2-4680-2EE4-8A8B5E5526EC}"/>
              </a:ext>
            </a:extLst>
          </p:cNvPr>
          <p:cNvSpPr txBox="1"/>
          <p:nvPr/>
        </p:nvSpPr>
        <p:spPr>
          <a:xfrm>
            <a:off x="1925591" y="3103537"/>
            <a:ext cx="82728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Автоматическое обновление остатков при подтверждении заявок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BB2DCE-7B18-22FA-615B-22C43F8572F6}"/>
              </a:ext>
            </a:extLst>
          </p:cNvPr>
          <p:cNvSpPr txBox="1"/>
          <p:nvPr/>
        </p:nvSpPr>
        <p:spPr>
          <a:xfrm>
            <a:off x="1916249" y="3440963"/>
            <a:ext cx="7848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Проведение инвентаризаций с расчётом расхождений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805458-2CF0-2F87-C0FD-F3AA6872FEA4}"/>
              </a:ext>
            </a:extLst>
          </p:cNvPr>
          <p:cNvSpPr txBox="1"/>
          <p:nvPr/>
        </p:nvSpPr>
        <p:spPr>
          <a:xfrm>
            <a:off x="1916249" y="3868546"/>
            <a:ext cx="73279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Формирование и экспорт отчётов (Excel, CSV, PDF)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9901B7-551A-562E-3502-96659DCF6D85}"/>
              </a:ext>
            </a:extLst>
          </p:cNvPr>
          <p:cNvSpPr txBox="1"/>
          <p:nvPr/>
        </p:nvSpPr>
        <p:spPr>
          <a:xfrm>
            <a:off x="1916249" y="4245273"/>
            <a:ext cx="69215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Логирование всех действий пользователей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8A48DF-A2C6-B34A-1CB5-A1E7C8D058B7}"/>
              </a:ext>
            </a:extLst>
          </p:cNvPr>
          <p:cNvSpPr txBox="1"/>
          <p:nvPr/>
        </p:nvSpPr>
        <p:spPr>
          <a:xfrm>
            <a:off x="1916249" y="1620282"/>
            <a:ext cx="96779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Аутентификация и разграничение прав доступа (администратор, бухгалтер, кладовщик)</a:t>
            </a:r>
          </a:p>
        </p:txBody>
      </p:sp>
      <p:pic>
        <p:nvPicPr>
          <p:cNvPr id="3" name="Рисунок 2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0746FD6-41FF-0E90-637E-8F18701E44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870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89176E4-DD1B-4E38-50D3-A0AC56EC7332}"/>
              </a:ext>
            </a:extLst>
          </p:cNvPr>
          <p:cNvSpPr txBox="1"/>
          <p:nvPr/>
        </p:nvSpPr>
        <p:spPr>
          <a:xfrm>
            <a:off x="3657600" y="571417"/>
            <a:ext cx="79365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Средства разработки системы</a:t>
            </a: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FF1C9FBA-FD7B-E68E-0AB7-0D84647D6343}"/>
              </a:ext>
            </a:extLst>
          </p:cNvPr>
          <p:cNvGrpSpPr/>
          <p:nvPr/>
        </p:nvGrpSpPr>
        <p:grpSpPr>
          <a:xfrm>
            <a:off x="3384749" y="1884479"/>
            <a:ext cx="2284945" cy="1160986"/>
            <a:chOff x="3948336" y="1605295"/>
            <a:chExt cx="2284945" cy="1160986"/>
          </a:xfrm>
        </p:grpSpPr>
        <p:grpSp>
          <p:nvGrpSpPr>
            <p:cNvPr id="49" name="Группа 48">
              <a:extLst>
                <a:ext uri="{FF2B5EF4-FFF2-40B4-BE49-F238E27FC236}">
                  <a16:creationId xmlns:a16="http://schemas.microsoft.com/office/drawing/2014/main" id="{48489CC8-8417-206C-F9AD-09CAF6E93E5E}"/>
                </a:ext>
              </a:extLst>
            </p:cNvPr>
            <p:cNvGrpSpPr/>
            <p:nvPr/>
          </p:nvGrpSpPr>
          <p:grpSpPr>
            <a:xfrm>
              <a:off x="4221234" y="1605295"/>
              <a:ext cx="1617204" cy="747629"/>
              <a:chOff x="4497665" y="3055693"/>
              <a:chExt cx="1617204" cy="747629"/>
            </a:xfrm>
          </p:grpSpPr>
          <p:pic>
            <p:nvPicPr>
              <p:cNvPr id="36" name="Рисунок 35" descr="Изображение выглядит как символ, логотип, Шрифт, Графика&#10;&#10;Контент, сгенерированный ИИ, может содержать ошибки.">
                <a:extLst>
                  <a:ext uri="{FF2B5EF4-FFF2-40B4-BE49-F238E27FC236}">
                    <a16:creationId xmlns:a16="http://schemas.microsoft.com/office/drawing/2014/main" id="{5A02A298-02DD-DC97-16B0-DDC92A021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97665" y="3055693"/>
                <a:ext cx="747628" cy="747628"/>
              </a:xfrm>
              <a:prstGeom prst="rect">
                <a:avLst/>
              </a:prstGeom>
            </p:spPr>
          </p:pic>
          <p:pic>
            <p:nvPicPr>
              <p:cNvPr id="46" name="Рисунок 45" descr="Изображение выглядит как круг, искусство, символ, лампа&#10;&#10;Контент, сгенерированный ИИ, может содержать ошибки.">
                <a:extLst>
                  <a:ext uri="{FF2B5EF4-FFF2-40B4-BE49-F238E27FC236}">
                    <a16:creationId xmlns:a16="http://schemas.microsoft.com/office/drawing/2014/main" id="{C34534AE-F294-684F-B617-9C54BB3B0E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367240" y="3055693"/>
                <a:ext cx="747629" cy="747629"/>
              </a:xfrm>
              <a:prstGeom prst="rect">
                <a:avLst/>
              </a:prstGeom>
            </p:spPr>
          </p:pic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AAAE74D-0FA5-5B0C-BDA5-C02E69CA8420}"/>
                </a:ext>
              </a:extLst>
            </p:cNvPr>
            <p:cNvSpPr txBox="1"/>
            <p:nvPr/>
          </p:nvSpPr>
          <p:spPr>
            <a:xfrm>
              <a:off x="3948336" y="2366171"/>
              <a:ext cx="228494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TypeScript + React</a:t>
              </a:r>
              <a:endParaRPr lang="ru-RU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9245BB4F-3DA5-0E46-D5BF-AC99C1CE8C48}"/>
              </a:ext>
            </a:extLst>
          </p:cNvPr>
          <p:cNvGrpSpPr/>
          <p:nvPr/>
        </p:nvGrpSpPr>
        <p:grpSpPr>
          <a:xfrm>
            <a:off x="5832097" y="1903894"/>
            <a:ext cx="2284945" cy="1141571"/>
            <a:chOff x="3771889" y="1605296"/>
            <a:chExt cx="2284945" cy="1141571"/>
          </a:xfrm>
        </p:grpSpPr>
        <p:grpSp>
          <p:nvGrpSpPr>
            <p:cNvPr id="50" name="Группа 49">
              <a:extLst>
                <a:ext uri="{FF2B5EF4-FFF2-40B4-BE49-F238E27FC236}">
                  <a16:creationId xmlns:a16="http://schemas.microsoft.com/office/drawing/2014/main" id="{99081CBC-28D3-AE15-5B41-034F346E179E}"/>
                </a:ext>
              </a:extLst>
            </p:cNvPr>
            <p:cNvGrpSpPr/>
            <p:nvPr/>
          </p:nvGrpSpPr>
          <p:grpSpPr>
            <a:xfrm>
              <a:off x="4127120" y="1605296"/>
              <a:ext cx="1534870" cy="747628"/>
              <a:chOff x="8939912" y="3109552"/>
              <a:chExt cx="1534870" cy="747628"/>
            </a:xfrm>
          </p:grpSpPr>
          <p:pic>
            <p:nvPicPr>
              <p:cNvPr id="34" name="Рисунок 33" descr="Изображение выглядит как логотип, символ, Шрифт, Графика&#10;&#10;Контент, сгенерированный ИИ, может содержать ошибки.">
                <a:extLst>
                  <a:ext uri="{FF2B5EF4-FFF2-40B4-BE49-F238E27FC236}">
                    <a16:creationId xmlns:a16="http://schemas.microsoft.com/office/drawing/2014/main" id="{35E0E920-5A0E-0131-6E67-91DADB08AA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939912" y="3109552"/>
                <a:ext cx="747628" cy="747628"/>
              </a:xfrm>
              <a:prstGeom prst="rect">
                <a:avLst/>
              </a:prstGeom>
            </p:spPr>
          </p:pic>
          <p:pic>
            <p:nvPicPr>
              <p:cNvPr id="42" name="Рисунок 41" descr="Изображение выглядит как символ, Графика, логотип, Шрифт&#10;&#10;Контент, сгенерированный ИИ, может содержать ошибки.">
                <a:extLst>
                  <a:ext uri="{FF2B5EF4-FFF2-40B4-BE49-F238E27FC236}">
                    <a16:creationId xmlns:a16="http://schemas.microsoft.com/office/drawing/2014/main" id="{BAF9A164-286E-7EC1-38FE-639DC6000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27154" y="3109552"/>
                <a:ext cx="747628" cy="747628"/>
              </a:xfrm>
              <a:prstGeom prst="rect">
                <a:avLst/>
              </a:prstGeom>
            </p:spPr>
          </p:pic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44BF792-AD5D-0030-3884-501220279E7B}"/>
                </a:ext>
              </a:extLst>
            </p:cNvPr>
            <p:cNvSpPr txBox="1"/>
            <p:nvPr/>
          </p:nvSpPr>
          <p:spPr>
            <a:xfrm>
              <a:off x="3771889" y="2346757"/>
              <a:ext cx="228494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JavaScript, Node.js</a:t>
              </a:r>
              <a:endParaRPr lang="ru-RU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9A339ECC-C9D8-35A7-BC1D-6F29F181F040}"/>
              </a:ext>
            </a:extLst>
          </p:cNvPr>
          <p:cNvGrpSpPr/>
          <p:nvPr/>
        </p:nvGrpSpPr>
        <p:grpSpPr>
          <a:xfrm>
            <a:off x="6539467" y="3445770"/>
            <a:ext cx="1617834" cy="1104861"/>
            <a:chOff x="2151716" y="4117946"/>
            <a:chExt cx="1617834" cy="1104861"/>
          </a:xfrm>
        </p:grpSpPr>
        <p:pic>
          <p:nvPicPr>
            <p:cNvPr id="40" name="Рисунок 39" descr="Изображение выглядит как логотип, Графика, символ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D52303B7-F0A2-5522-1BF9-149C4DDA32A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20439" y="4117946"/>
              <a:ext cx="747628" cy="747628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F4A79C7-14FB-0379-0C66-4AFB43F863E8}"/>
                </a:ext>
              </a:extLst>
            </p:cNvPr>
            <p:cNvSpPr txBox="1"/>
            <p:nvPr/>
          </p:nvSpPr>
          <p:spPr>
            <a:xfrm>
              <a:off x="2151716" y="4822697"/>
              <a:ext cx="16178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Tailwind CSS</a:t>
              </a:r>
              <a:endParaRPr lang="ru-RU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50CF5B02-F05C-0EF3-4546-ECC9116A08B9}"/>
              </a:ext>
            </a:extLst>
          </p:cNvPr>
          <p:cNvGrpSpPr/>
          <p:nvPr/>
        </p:nvGrpSpPr>
        <p:grpSpPr>
          <a:xfrm>
            <a:off x="4970312" y="3456120"/>
            <a:ext cx="1398763" cy="1089472"/>
            <a:chOff x="5570208" y="4094846"/>
            <a:chExt cx="1398763" cy="1089472"/>
          </a:xfrm>
        </p:grpSpPr>
        <p:pic>
          <p:nvPicPr>
            <p:cNvPr id="32" name="Рисунок 31" descr="Изображение выглядит как символ, График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498336D7-4168-A842-38EC-2C2A6499148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2937" y="4094846"/>
              <a:ext cx="747628" cy="747628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AA296C9-2698-8A7C-025B-3867BD89D3FD}"/>
                </a:ext>
              </a:extLst>
            </p:cNvPr>
            <p:cNvSpPr txBox="1"/>
            <p:nvPr/>
          </p:nvSpPr>
          <p:spPr>
            <a:xfrm>
              <a:off x="5570208" y="4814986"/>
              <a:ext cx="1398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PostgreSQL</a:t>
              </a:r>
              <a:endParaRPr lang="ru-RU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2CC7F9BD-62B4-6C66-1FC9-F4AFEAF39B23}"/>
              </a:ext>
            </a:extLst>
          </p:cNvPr>
          <p:cNvGrpSpPr/>
          <p:nvPr/>
        </p:nvGrpSpPr>
        <p:grpSpPr>
          <a:xfrm>
            <a:off x="3657600" y="3456120"/>
            <a:ext cx="942413" cy="1089472"/>
            <a:chOff x="4674570" y="1605296"/>
            <a:chExt cx="942413" cy="1089472"/>
          </a:xfrm>
        </p:grpSpPr>
        <p:pic>
          <p:nvPicPr>
            <p:cNvPr id="38" name="Рисунок 37" descr="Изображение выглядит как кот, млекопитающее, силуэт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DB35EEAF-6400-D03D-E68C-DC1EDF481CE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39424" y="1605296"/>
              <a:ext cx="747628" cy="747628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AB8C980F-D186-9120-91E3-7D39452BF5AF}"/>
                </a:ext>
              </a:extLst>
            </p:cNvPr>
            <p:cNvSpPr txBox="1"/>
            <p:nvPr/>
          </p:nvSpPr>
          <p:spPr>
            <a:xfrm>
              <a:off x="4674570" y="2325436"/>
              <a:ext cx="9424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GitHub</a:t>
              </a:r>
              <a:endParaRPr lang="ru-RU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6" name="Рисунок 5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90CA375-4E21-DE3E-2E35-4233E9DB97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478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5DCE71B-45CC-3439-22EA-F2D8DEFE7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44" y="584174"/>
            <a:ext cx="12119956" cy="48216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F6730532-D416-2BA7-1B30-C50388600F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412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B759A57-4DB6-0FD5-D9D8-DA52FFEA23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677" y="121883"/>
            <a:ext cx="9747682" cy="55084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D1B4D70-C1FE-1D1B-0284-E70B9C6E2B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159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6BB321E-F05E-6957-6FF7-893B5CC4C9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4424" y="191090"/>
            <a:ext cx="6587230" cy="5732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15EA36B9-7F69-55DD-4972-DE474F860E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587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диаграмм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E4023B8-3528-5CC4-E12E-1DA577FE9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230" y="244001"/>
            <a:ext cx="10193455" cy="6236698"/>
          </a:xfrm>
          <a:prstGeom prst="rect">
            <a:avLst/>
          </a:prstGeom>
        </p:spPr>
      </p:pic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E4E4ADA-BD79-198C-43E6-D75E419B5D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951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диаграмм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E4023B8-3528-5CC4-E12E-1DA577FE9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294" b="30432"/>
          <a:stretch/>
        </p:blipFill>
        <p:spPr>
          <a:xfrm>
            <a:off x="1552756" y="633"/>
            <a:ext cx="7363576" cy="6857367"/>
          </a:xfrm>
          <a:prstGeom prst="rect">
            <a:avLst/>
          </a:prstGeom>
        </p:spPr>
      </p:pic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CAF236F-C8D3-33A2-F41E-294C37FFE3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6621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диаграмм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E4023B8-3528-5CC4-E12E-1DA577FE9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55" t="5399" b="12146"/>
          <a:stretch/>
        </p:blipFill>
        <p:spPr>
          <a:xfrm>
            <a:off x="2013818" y="48827"/>
            <a:ext cx="7242326" cy="6760346"/>
          </a:xfrm>
          <a:prstGeom prst="rect">
            <a:avLst/>
          </a:prstGeom>
        </p:spPr>
      </p:pic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E97EDAA-AE2F-0EE7-54CC-8825C06E3E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6452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диаграмм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E4023B8-3528-5CC4-E12E-1DA577FE9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95" t="55563" r="32380"/>
          <a:stretch/>
        </p:blipFill>
        <p:spPr>
          <a:xfrm>
            <a:off x="315621" y="828136"/>
            <a:ext cx="11064797" cy="4978572"/>
          </a:xfrm>
          <a:prstGeom prst="rect">
            <a:avLst/>
          </a:prstGeom>
        </p:spPr>
      </p:pic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076C2C0-DCE9-0A31-3449-1E6F4BC17E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06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668FE2B-36D2-EE0A-3FCC-A6C9198825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26" y="-14558"/>
            <a:ext cx="10041147" cy="6872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763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CAB9543F-4229-C20E-97E7-14BBF854DF9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4897DB8C-1D9C-D13D-123E-63F179FA6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36545"/>
            <a:ext cx="12192000" cy="338491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4728D79-AFFD-A2C7-7394-EE4D3E2BFBF8}"/>
              </a:ext>
            </a:extLst>
          </p:cNvPr>
          <p:cNvSpPr txBox="1"/>
          <p:nvPr/>
        </p:nvSpPr>
        <p:spPr>
          <a:xfrm>
            <a:off x="6858001" y="571417"/>
            <a:ext cx="47361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Ганта</a:t>
            </a:r>
          </a:p>
        </p:txBody>
      </p:sp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1D2613B0-9716-D003-1287-B4416A8D84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7606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CAB9543F-4229-C20E-97E7-14BBF854DF9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CFFE9E-965C-6365-C2E5-13238D15065D}"/>
              </a:ext>
            </a:extLst>
          </p:cNvPr>
          <p:cNvSpPr txBox="1"/>
          <p:nvPr/>
        </p:nvSpPr>
        <p:spPr>
          <a:xfrm>
            <a:off x="6676845" y="571417"/>
            <a:ext cx="49173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Данные для входа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F73C97-EFB2-EC90-5FFB-3B4D7886506F}"/>
              </a:ext>
            </a:extLst>
          </p:cNvPr>
          <p:cNvSpPr txBox="1"/>
          <p:nvPr/>
        </p:nvSpPr>
        <p:spPr>
          <a:xfrm>
            <a:off x="5408895" y="2767280"/>
            <a:ext cx="372661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Логин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test1</a:t>
            </a:r>
          </a:p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Пароль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123456</a:t>
            </a:r>
            <a:endParaRPr lang="ru-RU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3BFBA59-2F76-B6D4-DD56-E6B0221FB0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562" y="1770680"/>
            <a:ext cx="3316637" cy="331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698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10E8CAE-B09F-D6CD-D09B-776D7805C8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10" t="20826" r="10878" b="20589"/>
          <a:stretch/>
        </p:blipFill>
        <p:spPr>
          <a:xfrm>
            <a:off x="0" y="945946"/>
            <a:ext cx="12192000" cy="41493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29D0DA-6D2E-11FB-95DB-12AE6E510096}"/>
              </a:ext>
            </a:extLst>
          </p:cNvPr>
          <p:cNvSpPr txBox="1"/>
          <p:nvPr/>
        </p:nvSpPr>
        <p:spPr>
          <a:xfrm>
            <a:off x="3750999" y="6041197"/>
            <a:ext cx="3109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 входа</a:t>
            </a:r>
          </a:p>
        </p:txBody>
      </p:sp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065A7C9-1A37-349B-A4D5-D2F986576E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5544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64D50D-0EBC-5857-8783-BDF827D053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86" y="0"/>
            <a:ext cx="6173436" cy="670272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B2D7D11-76A8-D478-BB24-9345A4B54D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1453" y="1654071"/>
            <a:ext cx="5557362" cy="279817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C73829A-1629-D71F-2883-30DBC60D0488}"/>
              </a:ext>
            </a:extLst>
          </p:cNvPr>
          <p:cNvSpPr txBox="1"/>
          <p:nvPr/>
        </p:nvSpPr>
        <p:spPr>
          <a:xfrm>
            <a:off x="8128790" y="565426"/>
            <a:ext cx="28612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</a:t>
            </a:r>
          </a:p>
        </p:txBody>
      </p:sp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6107D24-CF6B-C631-3307-43F801388D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5247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9135374" y="611154"/>
            <a:ext cx="21299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Материалы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FEF8CB4-5CDD-6339-A917-A9C8BC63C1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66" b="26415"/>
          <a:stretch/>
        </p:blipFill>
        <p:spPr>
          <a:xfrm>
            <a:off x="66389" y="267755"/>
            <a:ext cx="8516223" cy="6391837"/>
          </a:xfrm>
          <a:prstGeom prst="rect">
            <a:avLst/>
          </a:prstGeom>
        </p:spPr>
      </p:pic>
      <p:pic>
        <p:nvPicPr>
          <p:cNvPr id="3" name="Рисунок 2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FD07188-22C9-5ADE-CA6D-3536CC2D73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436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BF20264-DC55-3ADD-F09C-BA0C6BAA0B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15" b="34624"/>
          <a:stretch/>
        </p:blipFill>
        <p:spPr>
          <a:xfrm>
            <a:off x="66389" y="267754"/>
            <a:ext cx="8516223" cy="55840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4DFBD46-CC37-DC68-E440-B419B4A934D6}"/>
              </a:ext>
            </a:extLst>
          </p:cNvPr>
          <p:cNvSpPr txBox="1"/>
          <p:nvPr/>
        </p:nvSpPr>
        <p:spPr>
          <a:xfrm>
            <a:off x="9325154" y="611154"/>
            <a:ext cx="19401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Категории</a:t>
            </a:r>
          </a:p>
        </p:txBody>
      </p:sp>
      <p:pic>
        <p:nvPicPr>
          <p:cNvPr id="6" name="Рисунок 5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3999F104-41F5-2EAD-D1A9-EAA8C833FA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7928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2DA6A77-48D5-C4AC-5929-1C9235044B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415" b="55472"/>
          <a:stretch/>
        </p:blipFill>
        <p:spPr>
          <a:xfrm>
            <a:off x="78860" y="872764"/>
            <a:ext cx="9647641" cy="413055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E7D6C4E-5B15-5563-0FF3-2C739EA8D670}"/>
              </a:ext>
            </a:extLst>
          </p:cNvPr>
          <p:cNvSpPr txBox="1"/>
          <p:nvPr/>
        </p:nvSpPr>
        <p:spPr>
          <a:xfrm>
            <a:off x="9825486" y="611154"/>
            <a:ext cx="14398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Заявки</a:t>
            </a:r>
          </a:p>
        </p:txBody>
      </p:sp>
      <p:pic>
        <p:nvPicPr>
          <p:cNvPr id="6" name="Рисунок 5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68015CC-AF0A-E98C-DDE9-80CE057D9B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0124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1780F3E-0990-2872-D928-C971B9C8CB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41" b="27296"/>
          <a:stretch/>
        </p:blipFill>
        <p:spPr>
          <a:xfrm>
            <a:off x="147037" y="172529"/>
            <a:ext cx="8525797" cy="633178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594F80D-7A5A-D2B5-9F81-2DDDA0325CC4}"/>
              </a:ext>
            </a:extLst>
          </p:cNvPr>
          <p:cNvSpPr txBox="1"/>
          <p:nvPr/>
        </p:nvSpPr>
        <p:spPr>
          <a:xfrm>
            <a:off x="8833450" y="611154"/>
            <a:ext cx="24318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Пользователи</a:t>
            </a:r>
          </a:p>
        </p:txBody>
      </p:sp>
      <p:pic>
        <p:nvPicPr>
          <p:cNvPr id="4" name="Рисунок 3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20ABD02-0831-89FA-3FC8-862F492FFE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9103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1685AF4-91E5-7A04-DB28-AD134A6BA2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415" b="40755"/>
          <a:stretch/>
        </p:blipFill>
        <p:spPr>
          <a:xfrm>
            <a:off x="124623" y="379561"/>
            <a:ext cx="9265690" cy="54950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FC232FE-EDBB-F989-55CD-497DA02B8BBA}"/>
              </a:ext>
            </a:extLst>
          </p:cNvPr>
          <p:cNvSpPr txBox="1"/>
          <p:nvPr/>
        </p:nvSpPr>
        <p:spPr>
          <a:xfrm>
            <a:off x="9514936" y="611154"/>
            <a:ext cx="17504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Профиль</a:t>
            </a:r>
          </a:p>
        </p:txBody>
      </p:sp>
      <p:pic>
        <p:nvPicPr>
          <p:cNvPr id="6" name="Рисунок 5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9445991-B599-F428-7DE7-147F5FCE89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601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62C4C6-A26C-2EDE-846B-B290817B7818}"/>
              </a:ext>
            </a:extLst>
          </p:cNvPr>
          <p:cNvSpPr txBox="1"/>
          <p:nvPr/>
        </p:nvSpPr>
        <p:spPr>
          <a:xfrm>
            <a:off x="2490282" y="571417"/>
            <a:ext cx="91038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4400" dirty="0">
              <a:latin typeface="+mj-lt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0306FB-4A3F-AC3F-656F-A8760F93A4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415" b="47925"/>
          <a:stretch/>
        </p:blipFill>
        <p:spPr>
          <a:xfrm>
            <a:off x="125495" y="487943"/>
            <a:ext cx="9501584" cy="487357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93FEDC-DFCD-7320-479B-914AB28C6CE7}"/>
              </a:ext>
            </a:extLst>
          </p:cNvPr>
          <p:cNvSpPr txBox="1"/>
          <p:nvPr/>
        </p:nvSpPr>
        <p:spPr>
          <a:xfrm>
            <a:off x="9627079" y="611154"/>
            <a:ext cx="16382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Журнал действий</a:t>
            </a:r>
          </a:p>
        </p:txBody>
      </p:sp>
      <p:pic>
        <p:nvPicPr>
          <p:cNvPr id="7" name="Рисунок 6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AC4C254-BD34-F73F-709B-8F5E572E46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2219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D767EF-D378-7C98-7D80-CBE3B91BBA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076" b="37862"/>
          <a:stretch/>
        </p:blipFill>
        <p:spPr>
          <a:xfrm>
            <a:off x="131257" y="436185"/>
            <a:ext cx="8843581" cy="498120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558831F-E16D-F188-8B16-0C9A6CD579DC}"/>
              </a:ext>
            </a:extLst>
          </p:cNvPr>
          <p:cNvSpPr txBox="1"/>
          <p:nvPr/>
        </p:nvSpPr>
        <p:spPr>
          <a:xfrm>
            <a:off x="8988725" y="611154"/>
            <a:ext cx="227662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Резервное копирование базы данных</a:t>
            </a:r>
          </a:p>
        </p:txBody>
      </p:sp>
      <p:pic>
        <p:nvPicPr>
          <p:cNvPr id="6" name="Рисунок 5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FD0CAE3-CCC9-8759-7AC9-004BA78964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0126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4EAA84A-05D5-1594-5B6E-C05335BCB7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18" b="37484"/>
          <a:stretch/>
        </p:blipFill>
        <p:spPr>
          <a:xfrm>
            <a:off x="162113" y="491706"/>
            <a:ext cx="8199426" cy="512895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9B71FD-2AE5-440C-53DB-97F3ABFC70C2}"/>
              </a:ext>
            </a:extLst>
          </p:cNvPr>
          <p:cNvSpPr txBox="1"/>
          <p:nvPr/>
        </p:nvSpPr>
        <p:spPr>
          <a:xfrm>
            <a:off x="8428008" y="611154"/>
            <a:ext cx="28373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Инвентаризации</a:t>
            </a:r>
          </a:p>
        </p:txBody>
      </p:sp>
      <p:pic>
        <p:nvPicPr>
          <p:cNvPr id="4" name="Рисунок 3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F37004F-B798-B803-1511-2829F8C646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01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8EE8D-E0A5-3E18-8C88-D54B0BFAD2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404"/>
          <a:stretch/>
        </p:blipFill>
        <p:spPr>
          <a:xfrm>
            <a:off x="233446" y="946458"/>
            <a:ext cx="6124020" cy="385621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D928F25-056E-6D83-ABBC-62D3504420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4288"/>
          <a:stretch/>
        </p:blipFill>
        <p:spPr>
          <a:xfrm>
            <a:off x="6590912" y="2076624"/>
            <a:ext cx="5489275" cy="21960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17B2F1-2FC1-F8E1-21CF-38AA24E9E404}"/>
              </a:ext>
            </a:extLst>
          </p:cNvPr>
          <p:cNvSpPr txBox="1"/>
          <p:nvPr/>
        </p:nvSpPr>
        <p:spPr>
          <a:xfrm>
            <a:off x="9437298" y="611154"/>
            <a:ext cx="1828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Дашборд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22C8B23-2225-293C-3DCB-C9B93D54E6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146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333B6E-7894-C2AF-9075-1C86102CE7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97" b="22709"/>
          <a:stretch/>
        </p:blipFill>
        <p:spPr>
          <a:xfrm>
            <a:off x="481038" y="209013"/>
            <a:ext cx="7213723" cy="64399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8D2B106-8C64-AC0A-51E7-2C0E210F9FF4}"/>
              </a:ext>
            </a:extLst>
          </p:cNvPr>
          <p:cNvSpPr txBox="1"/>
          <p:nvPr/>
        </p:nvSpPr>
        <p:spPr>
          <a:xfrm>
            <a:off x="9256142" y="611154"/>
            <a:ext cx="20092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Аналитика</a:t>
            </a:r>
          </a:p>
        </p:txBody>
      </p:sp>
      <p:pic>
        <p:nvPicPr>
          <p:cNvPr id="6" name="Рисунок 5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2E56DF1-050D-9683-AF6B-B3C8006C7E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534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306D6D5-AE1C-A689-D340-8FE367B872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41" b="57629"/>
          <a:stretch/>
        </p:blipFill>
        <p:spPr>
          <a:xfrm>
            <a:off x="195885" y="760620"/>
            <a:ext cx="9226682" cy="370786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5F971E2-BF20-07A9-B7CD-0B134C1737C5}"/>
              </a:ext>
            </a:extLst>
          </p:cNvPr>
          <p:cNvSpPr txBox="1"/>
          <p:nvPr/>
        </p:nvSpPr>
        <p:spPr>
          <a:xfrm>
            <a:off x="9618452" y="611154"/>
            <a:ext cx="16468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Корзина</a:t>
            </a:r>
          </a:p>
        </p:txBody>
      </p:sp>
      <p:pic>
        <p:nvPicPr>
          <p:cNvPr id="4" name="Рисунок 3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F0552079-803F-3806-1549-4D532D450A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3300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F0D6B35D-9507-730B-D15A-4B0C313822CB}"/>
              </a:ext>
            </a:extLst>
          </p:cNvPr>
          <p:cNvCxnSpPr>
            <a:cxnSpLocks/>
          </p:cNvCxnSpPr>
          <p:nvPr/>
        </p:nvCxnSpPr>
        <p:spPr>
          <a:xfrm>
            <a:off x="1945975" y="1608379"/>
            <a:ext cx="0" cy="3219137"/>
          </a:xfrm>
          <a:prstGeom prst="line">
            <a:avLst/>
          </a:prstGeom>
          <a:ln>
            <a:solidFill>
              <a:srgbClr val="0332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3F9C79F-8230-EF95-461A-F3974948918B}"/>
              </a:ext>
            </a:extLst>
          </p:cNvPr>
          <p:cNvSpPr txBox="1"/>
          <p:nvPr/>
        </p:nvSpPr>
        <p:spPr>
          <a:xfrm>
            <a:off x="3939703" y="571417"/>
            <a:ext cx="76544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Экономическое обоснование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B3E2FB-5F17-8CBA-3C58-CD1626CAA35B}"/>
              </a:ext>
            </a:extLst>
          </p:cNvPr>
          <p:cNvSpPr txBox="1"/>
          <p:nvPr/>
        </p:nvSpPr>
        <p:spPr>
          <a:xfrm>
            <a:off x="2158375" y="4224479"/>
            <a:ext cx="94840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Интегральный коэффициент конкурентоспособности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2,4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463BEA-97F5-15A5-7AD7-1C8BF8C9032C}"/>
              </a:ext>
            </a:extLst>
          </p:cNvPr>
          <p:cNvSpPr txBox="1"/>
          <p:nvPr/>
        </p:nvSpPr>
        <p:spPr>
          <a:xfrm>
            <a:off x="2160918" y="1608379"/>
            <a:ext cx="6866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Полная себестоимость с НДС 332 300 руб.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322A18-8E6D-595E-FDBB-0BA608CAA23D}"/>
              </a:ext>
            </a:extLst>
          </p:cNvPr>
          <p:cNvSpPr txBox="1"/>
          <p:nvPr/>
        </p:nvSpPr>
        <p:spPr>
          <a:xfrm>
            <a:off x="2158375" y="2131599"/>
            <a:ext cx="69831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Цена программного продукта 488 000 руб.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D3F52D-8E1C-26AA-8C76-C235BF03D8D1}"/>
              </a:ext>
            </a:extLst>
          </p:cNvPr>
          <p:cNvSpPr txBox="1"/>
          <p:nvPr/>
        </p:nvSpPr>
        <p:spPr>
          <a:xfrm>
            <a:off x="2158375" y="2654819"/>
            <a:ext cx="41838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Прибыль 154 200 руб.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46D3A3-024A-19C6-B19A-F8A1375C91E2}"/>
              </a:ext>
            </a:extLst>
          </p:cNvPr>
          <p:cNvSpPr txBox="1"/>
          <p:nvPr/>
        </p:nvSpPr>
        <p:spPr>
          <a:xfrm>
            <a:off x="2158375" y="3178039"/>
            <a:ext cx="72461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Срок окупаемости (1 копия) 2 года 2 месяца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18AC3D-FD8E-6F0E-326B-DD823BB96A14}"/>
              </a:ext>
            </a:extLst>
          </p:cNvPr>
          <p:cNvSpPr txBox="1"/>
          <p:nvPr/>
        </p:nvSpPr>
        <p:spPr>
          <a:xfrm>
            <a:off x="2158375" y="3701259"/>
            <a:ext cx="37179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Рентабельность 20%</a:t>
            </a:r>
          </a:p>
        </p:txBody>
      </p:sp>
    </p:spTree>
    <p:extLst>
      <p:ext uri="{BB962C8B-B14F-4D97-AF65-F5344CB8AC3E}">
        <p14:creationId xmlns:p14="http://schemas.microsoft.com/office/powerpoint/2010/main" val="14099848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F9C79F-8230-EF95-461A-F3974948918B}"/>
              </a:ext>
            </a:extLst>
          </p:cNvPr>
          <p:cNvSpPr txBox="1"/>
          <p:nvPr/>
        </p:nvSpPr>
        <p:spPr>
          <a:xfrm>
            <a:off x="4516153" y="2659559"/>
            <a:ext cx="31596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</p:spTree>
    <p:extLst>
      <p:ext uri="{BB962C8B-B14F-4D97-AF65-F5344CB8AC3E}">
        <p14:creationId xmlns:p14="http://schemas.microsoft.com/office/powerpoint/2010/main" val="12387841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1176</TotalTime>
  <Words>213</Words>
  <Application>Microsoft Office PowerPoint</Application>
  <PresentationFormat>Широкоэкранный</PresentationFormat>
  <Paragraphs>56</Paragraphs>
  <Slides>30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данил сильченков</dc:creator>
  <cp:lastModifiedBy>данил сильченков</cp:lastModifiedBy>
  <cp:revision>15</cp:revision>
  <dcterms:created xsi:type="dcterms:W3CDTF">2026-05-13T18:14:05Z</dcterms:created>
  <dcterms:modified xsi:type="dcterms:W3CDTF">2026-06-14T16:05:25Z</dcterms:modified>
</cp:coreProperties>
</file>