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6" r:id="rId24"/>
    <p:sldId id="280" r:id="rId25"/>
    <p:sldId id="279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27C"/>
    <a:srgbClr val="1E62B1"/>
    <a:srgbClr val="1E61B1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1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732CF-D96E-15DB-F441-31B1B1DB1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0B3C24-E1C4-A17F-3CFB-6A7384C16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6E9C6F-54E0-617E-E652-8C6DF096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8D5753-9846-CB49-A027-C299992B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3CD83-427C-5ED5-8FF6-D7C1341F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309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007092-89D4-5120-64DC-51B69EE7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A267BE-752E-2A03-474B-5714D0EFB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161A35-AA76-A985-5C2E-AB0E6826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BFCCD2-508B-607D-DCDC-C463ECCF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335111-A12D-6D92-5DBE-D3ACD986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05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2A6AD-93F4-7A5B-2A99-2FD6A81D0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0E4E30-3074-3A2C-9F3A-069D9BADA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B19474-8FFE-13F3-35A4-88050ADA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98E8E6-4385-4328-35DE-E6C477BF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AF3D5C-AA65-07C6-657E-184CFB93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28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E9B64-B16D-6758-3CBA-F5939C99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7C479E-6B21-7C55-490A-B392E3819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7B1F54-8A36-9C63-62DC-63BD19294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4D75A4-1B18-E29A-D882-719CD94CD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A44081-954E-DD69-7925-B598027A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6555D2-011E-53A9-FD44-8EB58C6D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8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2CDED-C069-F3F8-33A3-43A5450C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C41CBE-FB40-10CB-A4C5-D85BEA402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DD1B28-7F4C-743E-5942-5F20F4025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D18771-FD89-54D5-8A44-B9B9E9180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761842-37AB-80FF-D5C5-4C558FB00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FCD438-C073-11BD-3C16-1AE067C2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851D90E-9B47-5A33-E97B-E33FD4AD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852FC9C-397E-AE08-D845-F91E1C8B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09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588F8-9DA3-A535-976D-2C52038D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DE3815-7CDF-C1B4-7787-487CC706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B50783-DB66-D062-CDD0-DCD6C37E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66CB77-FECD-2BA0-064C-B21C3746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84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2C7EA9-8993-3168-B77D-D059A9CA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0DC37E-AD94-5460-C559-3D993774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3D04E6-41EA-D975-5535-9B94D78E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80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7FBF9-F591-5ED3-8B2D-56174A09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58B364-B6E6-EF88-3226-1EDA97A00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293D05-F65E-4C4B-D7D8-F466FA33D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B8CE09-6D33-A26C-80C2-AA041253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32FBF9-577A-5113-00A9-A241547C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F4256C-2CCE-0C13-1EFA-7D103B7C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50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26F79-238C-FF57-214C-D9086D39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90E7D2-3A0C-E50A-1779-7924EF35C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07CAD5-B333-812D-979A-CE59AC054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7D2E44-A562-0F39-A5A0-6205FF35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65A352-D8A3-AAA3-95A6-D9E4D9A2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714C7C-BE12-61AE-8215-8340C976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02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AFB3D-68D6-E486-9AF2-7FA3F77B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A65BC-275A-7037-6072-1EF3D82B0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0D87D8-92A8-4796-9232-7D35D4AB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EF1C69-6379-3323-A1D5-2440E061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A1FAC0-B5E4-668D-8EA7-A2BDA4E4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0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BA6239-BC87-D85D-F7FF-FBA42C1D8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B681C5-A508-F9AF-1166-1E69654A3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DD0653-AE85-EEE8-1DCE-BE6003DD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BE72C1-2363-07F6-00B5-F94835BE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952C49-CFC1-1E4B-6BBA-6DC99F40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18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03384-7DCE-BAB1-B60E-3C78896C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61E0D8-AE03-42C8-860B-F2E96D562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DD8BCA-EFFE-97FF-FC19-5E70304E5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5A835-F28B-4F1D-AB44-3DFD53F1A729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7AD283-A2DA-1596-81F6-371DEC338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37AF1F-4D68-E883-D4FE-332DD71C0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0088D-8FB2-4C61-868F-B375F062F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13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18044574-D3ED-C88C-CC14-B4B6F705D3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8AB30C-84B5-9F67-AF59-4F1C5B032985}"/>
              </a:ext>
            </a:extLst>
          </p:cNvPr>
          <p:cNvSpPr txBox="1"/>
          <p:nvPr/>
        </p:nvSpPr>
        <p:spPr>
          <a:xfrm>
            <a:off x="6096000" y="1513133"/>
            <a:ext cx="51202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Разработка автоматизированной системы учёта материалов на складе</a:t>
            </a:r>
            <a:r>
              <a:rPr lang="en-US" sz="3200" dirty="0"/>
              <a:t> </a:t>
            </a:r>
            <a:r>
              <a:rPr lang="ru-RU" sz="3200" dirty="0"/>
              <a:t>«MaterialHouse»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BFAFA-356C-8D89-D951-B05E88D19244}"/>
              </a:ext>
            </a:extLst>
          </p:cNvPr>
          <p:cNvSpPr txBox="1"/>
          <p:nvPr/>
        </p:nvSpPr>
        <p:spPr>
          <a:xfrm>
            <a:off x="6311899" y="571417"/>
            <a:ext cx="52822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Дипломный проект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F252B-49E5-B9B8-7251-82355FF3A577}"/>
              </a:ext>
            </a:extLst>
          </p:cNvPr>
          <p:cNvSpPr txBox="1"/>
          <p:nvPr/>
        </p:nvSpPr>
        <p:spPr>
          <a:xfrm>
            <a:off x="6096000" y="4593812"/>
            <a:ext cx="2370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Руководитель: Трапезников Е. 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BA0E8-B14D-79F6-B343-717755E71F2A}"/>
              </a:ext>
            </a:extLst>
          </p:cNvPr>
          <p:cNvSpPr txBox="1"/>
          <p:nvPr/>
        </p:nvSpPr>
        <p:spPr>
          <a:xfrm>
            <a:off x="8845900" y="4593812"/>
            <a:ext cx="2370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 студент группы 23-ИСП-4</a:t>
            </a:r>
            <a:r>
              <a:rPr lang="en-US" dirty="0"/>
              <a:t>/1</a:t>
            </a:r>
            <a:r>
              <a:rPr lang="ru-RU" dirty="0"/>
              <a:t>: Клименков Д.А.</a:t>
            </a:r>
          </a:p>
        </p:txBody>
      </p:sp>
      <p:pic>
        <p:nvPicPr>
          <p:cNvPr id="11" name="Рисунок 10" descr="Изображение выглядит как текст, электроника, снимок экрана, компьютерный монито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0684D11-C800-7028-7762-5C2009244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7" y="1513133"/>
            <a:ext cx="5586520" cy="3724347"/>
          </a:xfrm>
          <a:prstGeom prst="rect">
            <a:avLst/>
          </a:prstGeom>
        </p:spPr>
      </p:pic>
      <p:pic>
        <p:nvPicPr>
          <p:cNvPr id="8" name="Рисунок 7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54C71E8-A99C-4896-B7E8-2654F1C24C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A7D246-BA8C-38B6-F549-B4C36B85AB99}"/>
              </a:ext>
            </a:extLst>
          </p:cNvPr>
          <p:cNvSpPr txBox="1"/>
          <p:nvPr/>
        </p:nvSpPr>
        <p:spPr>
          <a:xfrm>
            <a:off x="7912100" y="571417"/>
            <a:ext cx="3682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Цель работы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29112-B19C-F811-5B16-2A93D2372D39}"/>
              </a:ext>
            </a:extLst>
          </p:cNvPr>
          <p:cNvSpPr txBox="1"/>
          <p:nvPr/>
        </p:nvSpPr>
        <p:spPr>
          <a:xfrm>
            <a:off x="710214" y="1340858"/>
            <a:ext cx="108839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effectLst/>
                <a:ea typeface="Aptos" panose="020B0004020202020204" pitchFamily="34" charset="0"/>
              </a:rPr>
              <a:t>	Разработать автоматизированную систему учёта материалов на складе «MaterialHouse», которая обеспечивает прозрачность движения товарно-материальных ценностей, оперативный контроль остатков и автоматизацию инвентаризационных процессов</a:t>
            </a:r>
            <a:endParaRPr lang="ru-RU" sz="4800" dirty="0"/>
          </a:p>
        </p:txBody>
      </p:sp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310F91-7FA1-06E9-2BDF-0303F7A45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2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D03146-9593-2EF6-4B43-28FF36D36FBF}"/>
              </a:ext>
            </a:extLst>
          </p:cNvPr>
          <p:cNvSpPr txBox="1"/>
          <p:nvPr/>
        </p:nvSpPr>
        <p:spPr>
          <a:xfrm>
            <a:off x="9131300" y="571417"/>
            <a:ext cx="2462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Задачи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94925F7-BC51-633F-A91B-3ED4ADA75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710" y="3414710"/>
            <a:ext cx="28579" cy="2857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39DCBEA-B63E-4AD5-9B3F-15FA577F9A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08" y="1737597"/>
            <a:ext cx="10689203" cy="33542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AAF9977-CA1A-998A-1CA1-951CFD6C900E}"/>
              </a:ext>
            </a:extLst>
          </p:cNvPr>
          <p:cNvSpPr txBox="1"/>
          <p:nvPr/>
        </p:nvSpPr>
        <p:spPr>
          <a:xfrm>
            <a:off x="914400" y="3702369"/>
            <a:ext cx="1927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Проектирование бизнес-процессов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B7B634-76D8-E8B0-1D71-FBBC911FB6D3}"/>
              </a:ext>
            </a:extLst>
          </p:cNvPr>
          <p:cNvSpPr txBox="1"/>
          <p:nvPr/>
        </p:nvSpPr>
        <p:spPr>
          <a:xfrm>
            <a:off x="3019553" y="3702369"/>
            <a:ext cx="1927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Выбор инструментария и средств разработки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29F460-25E6-36A8-B51A-1B044EB63949}"/>
              </a:ext>
            </a:extLst>
          </p:cNvPr>
          <p:cNvSpPr txBox="1"/>
          <p:nvPr/>
        </p:nvSpPr>
        <p:spPr>
          <a:xfrm>
            <a:off x="5241741" y="3702369"/>
            <a:ext cx="173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приложения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84832-8B00-5221-A12E-EEF8F2CF86CA}"/>
              </a:ext>
            </a:extLst>
          </p:cNvPr>
          <p:cNvSpPr txBox="1"/>
          <p:nvPr/>
        </p:nvSpPr>
        <p:spPr>
          <a:xfrm>
            <a:off x="7323515" y="3702369"/>
            <a:ext cx="172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Тестирование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EB7DCA-8F1D-AAE6-A9C2-DA42A2EAB3AB}"/>
              </a:ext>
            </a:extLst>
          </p:cNvPr>
          <p:cNvSpPr txBox="1"/>
          <p:nvPr/>
        </p:nvSpPr>
        <p:spPr>
          <a:xfrm>
            <a:off x="9394887" y="3702368"/>
            <a:ext cx="1853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Экономическое обоснование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6CF31F-90D5-4E88-0B16-56EFB542E586}"/>
              </a:ext>
            </a:extLst>
          </p:cNvPr>
          <p:cNvSpPr txBox="1"/>
          <p:nvPr/>
        </p:nvSpPr>
        <p:spPr>
          <a:xfrm>
            <a:off x="1332608" y="3153099"/>
            <a:ext cx="1093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332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F1E536-10E2-3316-1926-5E3625A5AFDC}"/>
              </a:ext>
            </a:extLst>
          </p:cNvPr>
          <p:cNvSpPr txBox="1"/>
          <p:nvPr/>
        </p:nvSpPr>
        <p:spPr>
          <a:xfrm>
            <a:off x="3538898" y="3150568"/>
            <a:ext cx="889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332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C19014-543B-B74D-4F30-5AD858433ABA}"/>
              </a:ext>
            </a:extLst>
          </p:cNvPr>
          <p:cNvSpPr txBox="1"/>
          <p:nvPr/>
        </p:nvSpPr>
        <p:spPr>
          <a:xfrm>
            <a:off x="5508747" y="3170897"/>
            <a:ext cx="1174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332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850EBC-6D9E-CF51-30D3-B86A5C854D4A}"/>
              </a:ext>
            </a:extLst>
          </p:cNvPr>
          <p:cNvSpPr txBox="1"/>
          <p:nvPr/>
        </p:nvSpPr>
        <p:spPr>
          <a:xfrm>
            <a:off x="7742277" y="3176936"/>
            <a:ext cx="889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332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0C2F43-BA5F-8BF2-3333-ED28E4CCBFDA}"/>
              </a:ext>
            </a:extLst>
          </p:cNvPr>
          <p:cNvSpPr txBox="1"/>
          <p:nvPr/>
        </p:nvSpPr>
        <p:spPr>
          <a:xfrm>
            <a:off x="9380598" y="3167389"/>
            <a:ext cx="1881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03327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pic>
        <p:nvPicPr>
          <p:cNvPr id="3" name="Рисунок 2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92E1A78-3677-2452-281D-89FFDBE27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3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4AE8A-6D61-2158-F092-F30B528DFD4B}"/>
              </a:ext>
            </a:extLst>
          </p:cNvPr>
          <p:cNvSpPr txBox="1"/>
          <p:nvPr/>
        </p:nvSpPr>
        <p:spPr>
          <a:xfrm>
            <a:off x="3657600" y="571417"/>
            <a:ext cx="7936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Анализ объекта исследования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A9445-D0F9-7719-61AB-F7C62CDB1377}"/>
              </a:ext>
            </a:extLst>
          </p:cNvPr>
          <p:cNvSpPr txBox="1"/>
          <p:nvPr/>
        </p:nvSpPr>
        <p:spPr>
          <a:xfrm>
            <a:off x="925650" y="1648576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+mj-lt"/>
              </a:rPr>
              <a:t>Объект исследования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DA4D38-C2CD-3E0B-4FE6-9FAC7AA755D3}"/>
              </a:ext>
            </a:extLst>
          </p:cNvPr>
          <p:cNvSpPr txBox="1"/>
          <p:nvPr/>
        </p:nvSpPr>
        <p:spPr>
          <a:xfrm>
            <a:off x="925650" y="2374638"/>
            <a:ext cx="4452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Процесс складского учёта материалов на предприятии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9E74C-F6F3-36DC-7555-B3CFF252F268}"/>
              </a:ext>
            </a:extLst>
          </p:cNvPr>
          <p:cNvSpPr txBox="1"/>
          <p:nvPr/>
        </p:nvSpPr>
        <p:spPr>
          <a:xfrm>
            <a:off x="6096000" y="1648577"/>
            <a:ext cx="4996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+mj-lt"/>
              </a:rPr>
              <a:t>Направление деятельности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C31E1-71B2-6238-67FC-1FF62C4379CA}"/>
              </a:ext>
            </a:extLst>
          </p:cNvPr>
          <p:cNvSpPr txBox="1"/>
          <p:nvPr/>
        </p:nvSpPr>
        <p:spPr>
          <a:xfrm>
            <a:off x="6096000" y="2377810"/>
            <a:ext cx="48586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Автоматизация процессов приёма, хранения и учёта материалов, мониторинг остатков и аналитическая отчётность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D5F2EB2-FEF8-0C2A-6BDB-E1CA34A0C30A}"/>
              </a:ext>
            </a:extLst>
          </p:cNvPr>
          <p:cNvGrpSpPr/>
          <p:nvPr/>
        </p:nvGrpSpPr>
        <p:grpSpPr>
          <a:xfrm>
            <a:off x="925650" y="3267130"/>
            <a:ext cx="4030270" cy="1334658"/>
            <a:chOff x="3585171" y="5004706"/>
            <a:chExt cx="5900959" cy="954071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3DC8B86D-B120-C469-5749-0F58E5074BFA}"/>
                </a:ext>
              </a:extLst>
            </p:cNvPr>
            <p:cNvSpPr/>
            <p:nvPr/>
          </p:nvSpPr>
          <p:spPr>
            <a:xfrm>
              <a:off x="3585171" y="5004706"/>
              <a:ext cx="5640309" cy="914400"/>
            </a:xfrm>
            <a:prstGeom prst="roundRect">
              <a:avLst/>
            </a:prstGeom>
            <a:solidFill>
              <a:srgbClr val="1E62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E263EC-B4D8-4191-4C29-01C1A2C9A5CC}"/>
                </a:ext>
              </a:extLst>
            </p:cNvPr>
            <p:cNvSpPr txBox="1"/>
            <p:nvPr/>
          </p:nvSpPr>
          <p:spPr>
            <a:xfrm>
              <a:off x="4443349" y="5035447"/>
              <a:ext cx="504278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</a:rPr>
                <a:t>Проблема</a:t>
              </a:r>
              <a:r>
                <a:rPr lang="ru-RU" dirty="0">
                  <a:solidFill>
                    <a:schemeClr val="bg1"/>
                  </a:solidFill>
                </a:rPr>
                <a:t>: ручной учёт, разрозненность данных, отсутствие оперативной информации о остатках</a:t>
              </a:r>
            </a:p>
          </p:txBody>
        </p:sp>
      </p:grpSp>
      <p:pic>
        <p:nvPicPr>
          <p:cNvPr id="20" name="Рисунок 19" descr="Изображение выглядит как круг, символ, Графика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25C0BC0-585E-F878-55F4-A3DF35FB6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00" y="3745524"/>
            <a:ext cx="322374" cy="322374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FDC2AC-EB88-74DE-ED2C-663BBE9AF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7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9C7790-9105-5CFC-FC4E-D9ABF2D844C8}"/>
              </a:ext>
            </a:extLst>
          </p:cNvPr>
          <p:cNvSpPr txBox="1"/>
          <p:nvPr/>
        </p:nvSpPr>
        <p:spPr>
          <a:xfrm>
            <a:off x="1405288" y="571417"/>
            <a:ext cx="10188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Требования к разрабатываемой системе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DFA76CF-6CA5-ADCD-03D5-8C8D5E082A08}"/>
              </a:ext>
            </a:extLst>
          </p:cNvPr>
          <p:cNvCxnSpPr>
            <a:cxnSpLocks/>
          </p:cNvCxnSpPr>
          <p:nvPr/>
        </p:nvCxnSpPr>
        <p:spPr>
          <a:xfrm>
            <a:off x="1790700" y="1620282"/>
            <a:ext cx="0" cy="3479800"/>
          </a:xfrm>
          <a:prstGeom prst="line">
            <a:avLst/>
          </a:prstGeom>
          <a:ln>
            <a:solidFill>
              <a:srgbClr val="0332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EE45BF-E4E0-0593-4D73-62737F872323}"/>
              </a:ext>
            </a:extLst>
          </p:cNvPr>
          <p:cNvSpPr txBox="1"/>
          <p:nvPr/>
        </p:nvSpPr>
        <p:spPr>
          <a:xfrm>
            <a:off x="1925591" y="2335224"/>
            <a:ext cx="53944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/>
              <a:t>Управление материалами и категориями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25144F-4314-999B-49FB-C7C1989A4165}"/>
              </a:ext>
            </a:extLst>
          </p:cNvPr>
          <p:cNvSpPr txBox="1"/>
          <p:nvPr/>
        </p:nvSpPr>
        <p:spPr>
          <a:xfrm>
            <a:off x="1925591" y="2726810"/>
            <a:ext cx="9183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Создание заявок на приход и расход материалов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8CEE2A-62D2-4680-2EE4-8A8B5E5526EC}"/>
              </a:ext>
            </a:extLst>
          </p:cNvPr>
          <p:cNvSpPr txBox="1"/>
          <p:nvPr/>
        </p:nvSpPr>
        <p:spPr>
          <a:xfrm>
            <a:off x="1925591" y="3103537"/>
            <a:ext cx="8272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Автоматическое обновление остатков при подтверждении заявок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BB2DCE-7B18-22FA-615B-22C43F8572F6}"/>
              </a:ext>
            </a:extLst>
          </p:cNvPr>
          <p:cNvSpPr txBox="1"/>
          <p:nvPr/>
        </p:nvSpPr>
        <p:spPr>
          <a:xfrm>
            <a:off x="1916249" y="3818818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Проведение инвентаризаций с расчётом расхождений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805458-2CF0-2F87-C0FD-F3AA6872FEA4}"/>
              </a:ext>
            </a:extLst>
          </p:cNvPr>
          <p:cNvSpPr txBox="1"/>
          <p:nvPr/>
        </p:nvSpPr>
        <p:spPr>
          <a:xfrm>
            <a:off x="1916249" y="4246401"/>
            <a:ext cx="7327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Формирование и экспорт отчётов (Excel, CSV, PDF)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901B7-551A-562E-3502-96659DCF6D85}"/>
              </a:ext>
            </a:extLst>
          </p:cNvPr>
          <p:cNvSpPr txBox="1"/>
          <p:nvPr/>
        </p:nvSpPr>
        <p:spPr>
          <a:xfrm>
            <a:off x="1916249" y="4623128"/>
            <a:ext cx="6921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Логирование всех действий пользователей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8A48DF-A2C6-B34A-1CB5-A1E7C8D058B7}"/>
              </a:ext>
            </a:extLst>
          </p:cNvPr>
          <p:cNvSpPr txBox="1"/>
          <p:nvPr/>
        </p:nvSpPr>
        <p:spPr>
          <a:xfrm>
            <a:off x="1916249" y="1620282"/>
            <a:ext cx="96779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Аутентификация и разграничение прав доступа (администратор, бухгалтер, кладовщик)</a:t>
            </a:r>
          </a:p>
        </p:txBody>
      </p:sp>
      <p:pic>
        <p:nvPicPr>
          <p:cNvPr id="3" name="Рисунок 2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7A24B24-0CD0-1449-2F86-B069667B8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7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9176E4-DD1B-4E38-50D3-A0AC56EC7332}"/>
              </a:ext>
            </a:extLst>
          </p:cNvPr>
          <p:cNvSpPr txBox="1"/>
          <p:nvPr/>
        </p:nvSpPr>
        <p:spPr>
          <a:xfrm>
            <a:off x="3657600" y="571417"/>
            <a:ext cx="7936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Средства разработки системы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C50219-98B0-D0BB-472E-8B8E71DD4538}"/>
              </a:ext>
            </a:extLst>
          </p:cNvPr>
          <p:cNvSpPr txBox="1"/>
          <p:nvPr/>
        </p:nvSpPr>
        <p:spPr>
          <a:xfrm>
            <a:off x="1555028" y="1514532"/>
            <a:ext cx="2031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Платформа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610BAD-72A7-20BD-B899-A102ED6795DD}"/>
              </a:ext>
            </a:extLst>
          </p:cNvPr>
          <p:cNvSpPr txBox="1"/>
          <p:nvPr/>
        </p:nvSpPr>
        <p:spPr>
          <a:xfrm>
            <a:off x="4686338" y="1519266"/>
            <a:ext cx="2819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Язык фронтенда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66A85C-D18D-38F0-A14A-17A8021C9144}"/>
              </a:ext>
            </a:extLst>
          </p:cNvPr>
          <p:cNvSpPr txBox="1"/>
          <p:nvPr/>
        </p:nvSpPr>
        <p:spPr>
          <a:xfrm>
            <a:off x="8698719" y="1519266"/>
            <a:ext cx="2819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Язык бэкенда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BBC091-C607-7105-2A70-E2F0BA251834}"/>
              </a:ext>
            </a:extLst>
          </p:cNvPr>
          <p:cNvSpPr txBox="1"/>
          <p:nvPr/>
        </p:nvSpPr>
        <p:spPr>
          <a:xfrm>
            <a:off x="1555028" y="4661098"/>
            <a:ext cx="3179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Среда разработки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6028F4-80E6-199F-4D3F-EF85E552796E}"/>
              </a:ext>
            </a:extLst>
          </p:cNvPr>
          <p:cNvSpPr txBox="1"/>
          <p:nvPr/>
        </p:nvSpPr>
        <p:spPr>
          <a:xfrm>
            <a:off x="6529572" y="4661098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СУБД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08050-4F7D-D533-DA02-C3007B0C1E6B}"/>
              </a:ext>
            </a:extLst>
          </p:cNvPr>
          <p:cNvSpPr txBox="1"/>
          <p:nvPr/>
        </p:nvSpPr>
        <p:spPr>
          <a:xfrm>
            <a:off x="1555028" y="3686339"/>
            <a:ext cx="2795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CSS-</a:t>
            </a:r>
            <a:r>
              <a:rPr lang="ru-RU" sz="2800" dirty="0"/>
              <a:t>фреймворк</a:t>
            </a:r>
          </a:p>
        </p:txBody>
      </p:sp>
      <p:pic>
        <p:nvPicPr>
          <p:cNvPr id="32" name="Рисунок 31" descr="Изображение выглядит как символ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98336D7-4168-A842-38EC-2C2A64991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987" y="4721337"/>
            <a:ext cx="747628" cy="747628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кот, млекопитающее, силуэ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35EEAF-6400-D03D-E68C-DC1EDF481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240" y="3792835"/>
            <a:ext cx="747628" cy="747628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логотип, Графи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52303B7-F0A2-5522-1BF9-149C4DDA32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119" y="3792835"/>
            <a:ext cx="747628" cy="747628"/>
          </a:xfrm>
          <a:prstGeom prst="rect">
            <a:avLst/>
          </a:prstGeom>
        </p:spPr>
      </p:pic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99081CBC-28D3-AE15-5B41-034F346E179E}"/>
              </a:ext>
            </a:extLst>
          </p:cNvPr>
          <p:cNvGrpSpPr/>
          <p:nvPr/>
        </p:nvGrpSpPr>
        <p:grpSpPr>
          <a:xfrm>
            <a:off x="9115986" y="2105416"/>
            <a:ext cx="1534870" cy="747628"/>
            <a:chOff x="8939912" y="3109552"/>
            <a:chExt cx="1534870" cy="747628"/>
          </a:xfrm>
        </p:grpSpPr>
        <p:pic>
          <p:nvPicPr>
            <p:cNvPr id="34" name="Рисунок 33" descr="Изображение выглядит как логотип, символ, Шрифт, График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5E0E920-5A0E-0131-6E67-91DADB08A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9912" y="3109552"/>
              <a:ext cx="747628" cy="747628"/>
            </a:xfrm>
            <a:prstGeom prst="rect">
              <a:avLst/>
            </a:prstGeom>
          </p:spPr>
        </p:pic>
        <p:pic>
          <p:nvPicPr>
            <p:cNvPr id="42" name="Рисунок 41" descr="Изображение выглядит как символ, Графика, логотип, Шрифт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BAF9A164-286E-7EC1-38FE-639DC6000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7154" y="3109552"/>
              <a:ext cx="747628" cy="747628"/>
            </a:xfrm>
            <a:prstGeom prst="rect">
              <a:avLst/>
            </a:prstGeom>
          </p:spPr>
        </p:pic>
      </p:grpSp>
      <p:pic>
        <p:nvPicPr>
          <p:cNvPr id="44" name="Рисунок 43" descr="Изображение выглядит как линия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62EB724-391E-5FC9-354C-D68B55822A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119" y="4721337"/>
            <a:ext cx="747629" cy="747629"/>
          </a:xfrm>
          <a:prstGeom prst="rect">
            <a:avLst/>
          </a:prstGeom>
        </p:spPr>
      </p:pic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48489CC8-8417-206C-F9AD-09CAF6E93E5E}"/>
              </a:ext>
            </a:extLst>
          </p:cNvPr>
          <p:cNvGrpSpPr/>
          <p:nvPr/>
        </p:nvGrpSpPr>
        <p:grpSpPr>
          <a:xfrm>
            <a:off x="5287398" y="2108815"/>
            <a:ext cx="1617204" cy="747629"/>
            <a:chOff x="4497665" y="3055693"/>
            <a:chExt cx="1617204" cy="747629"/>
          </a:xfrm>
        </p:grpSpPr>
        <p:pic>
          <p:nvPicPr>
            <p:cNvPr id="36" name="Рисунок 35" descr="Изображение выглядит как символ, логотип, Шрифт, График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A02A298-02DD-DC97-16B0-DDC92A021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665" y="3055693"/>
              <a:ext cx="747628" cy="747628"/>
            </a:xfrm>
            <a:prstGeom prst="rect">
              <a:avLst/>
            </a:prstGeom>
          </p:spPr>
        </p:pic>
        <p:pic>
          <p:nvPicPr>
            <p:cNvPr id="46" name="Рисунок 45" descr="Изображение выглядит как круг, искусство, символ, ламп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34534AE-F294-684F-B617-9C54BB3B0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240" y="3055693"/>
              <a:ext cx="747629" cy="747629"/>
            </a:xfrm>
            <a:prstGeom prst="rect">
              <a:avLst/>
            </a:prstGeom>
          </p:spPr>
        </p:pic>
      </p:grpSp>
      <p:pic>
        <p:nvPicPr>
          <p:cNvPr id="48" name="Рисунок 47" descr="Изображение выглядит как символ, круг, искусство, Симметр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30E093-2588-0B8D-6930-B35B41C27F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666" y="2108815"/>
            <a:ext cx="747629" cy="74762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D5A324B-D48A-9CB8-A233-290C27E2F9DF}"/>
              </a:ext>
            </a:extLst>
          </p:cNvPr>
          <p:cNvSpPr txBox="1"/>
          <p:nvPr/>
        </p:nvSpPr>
        <p:spPr>
          <a:xfrm>
            <a:off x="1894966" y="2905568"/>
            <a:ext cx="1357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Веб-сайт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AAE74D-0FA5-5B0C-BDA5-C02E69CA8420}"/>
              </a:ext>
            </a:extLst>
          </p:cNvPr>
          <p:cNvSpPr txBox="1"/>
          <p:nvPr/>
        </p:nvSpPr>
        <p:spPr>
          <a:xfrm>
            <a:off x="5028132" y="2905324"/>
            <a:ext cx="2477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TypeScript + React</a:t>
            </a:r>
            <a:endParaRPr lang="ru-RU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4BF792-AD5D-0030-3884-501220279E7B}"/>
              </a:ext>
            </a:extLst>
          </p:cNvPr>
          <p:cNvSpPr txBox="1"/>
          <p:nvPr/>
        </p:nvSpPr>
        <p:spPr>
          <a:xfrm>
            <a:off x="8869615" y="2905324"/>
            <a:ext cx="2477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JavaScript, Node.js</a:t>
            </a:r>
            <a:endParaRPr lang="ru-RU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4A79C7-14FB-0379-0C66-4AFB43F863E8}"/>
              </a:ext>
            </a:extLst>
          </p:cNvPr>
          <p:cNvSpPr txBox="1"/>
          <p:nvPr/>
        </p:nvSpPr>
        <p:spPr>
          <a:xfrm>
            <a:off x="1555028" y="4166649"/>
            <a:ext cx="202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Tailwind CSS</a:t>
            </a:r>
            <a:endParaRPr lang="ru-RU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D61C22-8828-DDCE-A368-5DB4A71C98DB}"/>
              </a:ext>
            </a:extLst>
          </p:cNvPr>
          <p:cNvSpPr txBox="1"/>
          <p:nvPr/>
        </p:nvSpPr>
        <p:spPr>
          <a:xfrm>
            <a:off x="1557513" y="5188800"/>
            <a:ext cx="213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Studio Code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A296C9-2698-8A7C-025B-3867BD89D3FD}"/>
              </a:ext>
            </a:extLst>
          </p:cNvPr>
          <p:cNvSpPr txBox="1"/>
          <p:nvPr/>
        </p:nvSpPr>
        <p:spPr>
          <a:xfrm>
            <a:off x="6529572" y="5184318"/>
            <a:ext cx="190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PostgreSQL</a:t>
            </a:r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C980F-D186-9120-91E3-7D39452BF5AF}"/>
              </a:ext>
            </a:extLst>
          </p:cNvPr>
          <p:cNvSpPr txBox="1"/>
          <p:nvPr/>
        </p:nvSpPr>
        <p:spPr>
          <a:xfrm>
            <a:off x="6539078" y="4191704"/>
            <a:ext cx="134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</a:t>
            </a:r>
            <a:endParaRPr lang="ru-RU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4F69E8-117E-0836-F616-0A7506386A95}"/>
              </a:ext>
            </a:extLst>
          </p:cNvPr>
          <p:cNvSpPr txBox="1"/>
          <p:nvPr/>
        </p:nvSpPr>
        <p:spPr>
          <a:xfrm>
            <a:off x="6529573" y="3686339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Контроль версий</a:t>
            </a:r>
          </a:p>
        </p:txBody>
      </p:sp>
      <p:pic>
        <p:nvPicPr>
          <p:cNvPr id="3" name="Рисунок 2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69BC60B-CD7E-B63F-0615-C41E9FE0C7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78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BEFE58C-647E-072A-2338-F94B74F11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258" y="309652"/>
            <a:ext cx="9149483" cy="5852644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220199-750E-FE92-8C83-1E27F23E55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5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диаграмм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4023B8-3528-5CC4-E12E-1DA577FE9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30" y="244001"/>
            <a:ext cx="10193455" cy="6236698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00B2174-B7E7-6249-9921-FCF5B11BA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5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DD9B78-D57D-3F26-82EF-2748D7C23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325" y="0"/>
            <a:ext cx="6925961" cy="6858000"/>
          </a:xfrm>
          <a:prstGeom prst="rect">
            <a:avLst/>
          </a:prstGeom>
          <a:ln>
            <a:solidFill>
              <a:srgbClr val="03327C"/>
            </a:solidFill>
          </a:ln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887DB59-323C-C012-529D-7214EAB31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6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0E8CAE-B09F-D6CD-D09B-776D7805C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34" y="306403"/>
            <a:ext cx="10290777" cy="5197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29D0DA-6D2E-11FB-95DB-12AE6E510096}"/>
              </a:ext>
            </a:extLst>
          </p:cNvPr>
          <p:cNvSpPr txBox="1"/>
          <p:nvPr/>
        </p:nvSpPr>
        <p:spPr>
          <a:xfrm>
            <a:off x="3750999" y="6041197"/>
            <a:ext cx="3109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входа</a:t>
            </a:r>
          </a:p>
        </p:txBody>
      </p:sp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8CDD2BD-BEF9-770B-649C-3B44A84C8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5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3750999" y="6041197"/>
            <a:ext cx="3109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Главная страница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64D50D-0EBC-5857-8783-BDF827D05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5" y="73684"/>
            <a:ext cx="5430175" cy="589573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B2D7D11-76A8-D478-BB24-9345A4B54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19" y="1697203"/>
            <a:ext cx="5557362" cy="2798173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16C5DE-4E1E-4675-4718-0BAB7B296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2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53712" y="2905779"/>
            <a:ext cx="429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с материалами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FEF8CB4-5CDD-6339-A917-A9C8BC63C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178" y="0"/>
            <a:ext cx="6114534" cy="6857999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0FFBC5-178E-78CE-277C-F687C324F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547875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36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61160" y="2905780"/>
            <a:ext cx="4369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с категориями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F20264-DC55-3ADD-F09C-BA0C6BAA0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543" y="0"/>
            <a:ext cx="6117617" cy="6861458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78140EE-89EE-2C46-3C56-B0207F452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  <p:pic>
        <p:nvPicPr>
          <p:cNvPr id="3" name="Рисунок 2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92E9FEC-E87A-2725-6297-B32222270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533" y="56470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92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32863" y="2905778"/>
            <a:ext cx="3971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с заявками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DA6A77-48D5-C4AC-5929-1C923504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62" y="-1"/>
            <a:ext cx="6105001" cy="6857999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59BC4D5-A7F2-DBFE-A3EA-46DDA341C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12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62323" y="2905780"/>
            <a:ext cx="42296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с пользователями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780F3E-0990-2872-D928-C971B9C8C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815" y="-1"/>
            <a:ext cx="6109767" cy="6857999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37E34B-9642-4C31-7AC4-59A3460BE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10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66769" y="2905780"/>
            <a:ext cx="3314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профиля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685AF4-91E5-7A04-DB28-AD134A6B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521" y="0"/>
            <a:ext cx="6109248" cy="6858000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4709388-BD33-75DF-6D63-428F868E4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62C4C6-A26C-2EDE-846B-B290817B7818}"/>
              </a:ext>
            </a:extLst>
          </p:cNvPr>
          <p:cNvSpPr txBox="1"/>
          <p:nvPr/>
        </p:nvSpPr>
        <p:spPr>
          <a:xfrm>
            <a:off x="2490282" y="571417"/>
            <a:ext cx="9103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44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27012" y="2905780"/>
            <a:ext cx="42649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журнала действий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0306FB-4A3F-AC3F-656F-A8760F93A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1" y="0"/>
            <a:ext cx="6105001" cy="6858000"/>
          </a:xfrm>
          <a:prstGeom prst="rect">
            <a:avLst/>
          </a:prstGeom>
        </p:spPr>
      </p:pic>
      <p:pic>
        <p:nvPicPr>
          <p:cNvPr id="3" name="Рисунок 2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2465E6-E0C2-5719-6370-A869918BC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21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34758" y="2905780"/>
            <a:ext cx="4351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бэкапов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D767EF-D378-7C98-7D80-CBE3B91BB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88" y="0"/>
            <a:ext cx="6095470" cy="6858000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7F16D4-0B46-7A7D-8AF0-39AA72C82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1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39734" y="2905778"/>
            <a:ext cx="42522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инвентаризаций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EAA84A-05D5-1594-5B6E-C05335BC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264" y="-1"/>
            <a:ext cx="6095470" cy="6857999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9B06DA7-62F2-6AAE-CB3F-DE4C8B3A01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1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8EE8D-E0A5-3E18-8C88-D54B0BFAD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0" y="1193310"/>
            <a:ext cx="5805318" cy="40800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928F25-056E-6D83-ABBC-62D350442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14" y="1617799"/>
            <a:ext cx="5805318" cy="3655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E0BE91-346B-A1E0-6542-10489114A7CB}"/>
              </a:ext>
            </a:extLst>
          </p:cNvPr>
          <p:cNvSpPr txBox="1"/>
          <p:nvPr/>
        </p:nvSpPr>
        <p:spPr>
          <a:xfrm>
            <a:off x="3116063" y="6041197"/>
            <a:ext cx="3744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Страница </a:t>
            </a:r>
            <a:r>
              <a:rPr lang="ru-RU" sz="2800" dirty="0" err="1"/>
              <a:t>дашборд</a:t>
            </a:r>
            <a:endParaRPr lang="ru-RU" sz="2800" dirty="0"/>
          </a:p>
        </p:txBody>
      </p:sp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6A637C8-1675-34E6-4604-D5EC28B27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46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333554" y="2905780"/>
            <a:ext cx="48584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аналитики и отчётов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333B6E-7894-C2AF-9075-1C86102C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386" y="-1"/>
            <a:ext cx="5498168" cy="6875101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E204D49-CD5D-26F1-9843-F92BDB071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34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FF859-C56F-DA49-62AB-151DA7BD4352}"/>
              </a:ext>
            </a:extLst>
          </p:cNvPr>
          <p:cNvSpPr txBox="1"/>
          <p:nvPr/>
        </p:nvSpPr>
        <p:spPr>
          <a:xfrm>
            <a:off x="7963223" y="2905778"/>
            <a:ext cx="3658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Страница корзины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06D6D5-AE1C-A689-D340-8FE367B8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691" y="-1"/>
            <a:ext cx="6114532" cy="6857999"/>
          </a:xfrm>
          <a:prstGeom prst="rect">
            <a:avLst/>
          </a:prstGeom>
        </p:spPr>
      </p:pic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990693-41D6-49D2-5431-0157D9CB1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30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F9C79F-8230-EF95-461A-F3974948918B}"/>
              </a:ext>
            </a:extLst>
          </p:cNvPr>
          <p:cNvSpPr txBox="1"/>
          <p:nvPr/>
        </p:nvSpPr>
        <p:spPr>
          <a:xfrm>
            <a:off x="3939703" y="571417"/>
            <a:ext cx="76544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Экономическое обоснование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000C6-8FCE-6AA9-A6D4-5F654E6150D7}"/>
              </a:ext>
            </a:extLst>
          </p:cNvPr>
          <p:cNvSpPr txBox="1"/>
          <p:nvPr/>
        </p:nvSpPr>
        <p:spPr>
          <a:xfrm>
            <a:off x="1074199" y="1497074"/>
            <a:ext cx="3178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Полная себестоимость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BCBD7-E4C1-407B-4D2E-9C67D8DF9F47}"/>
              </a:ext>
            </a:extLst>
          </p:cNvPr>
          <p:cNvSpPr txBox="1"/>
          <p:nvPr/>
        </p:nvSpPr>
        <p:spPr>
          <a:xfrm>
            <a:off x="4767308" y="1497074"/>
            <a:ext cx="338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Цена программного продукта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50904-2EDF-D98F-E258-CB2E825AE712}"/>
              </a:ext>
            </a:extLst>
          </p:cNvPr>
          <p:cNvSpPr txBox="1"/>
          <p:nvPr/>
        </p:nvSpPr>
        <p:spPr>
          <a:xfrm>
            <a:off x="9721049" y="1497074"/>
            <a:ext cx="2139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Прибыль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16F70-EF17-FFAB-110B-297910186973}"/>
              </a:ext>
            </a:extLst>
          </p:cNvPr>
          <p:cNvSpPr txBox="1"/>
          <p:nvPr/>
        </p:nvSpPr>
        <p:spPr>
          <a:xfrm>
            <a:off x="2645545" y="2994148"/>
            <a:ext cx="2121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Рентабельность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88A62-68BF-9CB9-F4D6-529D1AFFDA81}"/>
              </a:ext>
            </a:extLst>
          </p:cNvPr>
          <p:cNvSpPr txBox="1"/>
          <p:nvPr/>
        </p:nvSpPr>
        <p:spPr>
          <a:xfrm>
            <a:off x="6427584" y="2994148"/>
            <a:ext cx="3231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Срок </a:t>
            </a:r>
            <a:r>
              <a:rPr lang="ru-RU" sz="2000" dirty="0"/>
              <a:t>окупаемости</a:t>
            </a:r>
            <a:r>
              <a:rPr lang="ru-RU" dirty="0"/>
              <a:t> (1 копия)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D92D3-C70C-D912-7D7E-EEBBDE573327}"/>
              </a:ext>
            </a:extLst>
          </p:cNvPr>
          <p:cNvSpPr txBox="1"/>
          <p:nvPr/>
        </p:nvSpPr>
        <p:spPr>
          <a:xfrm>
            <a:off x="2663301" y="4491222"/>
            <a:ext cx="5841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Интегральный </a:t>
            </a:r>
            <a:r>
              <a:rPr lang="ru-RU" sz="2000" dirty="0"/>
              <a:t>коэффициент</a:t>
            </a:r>
            <a:r>
              <a:rPr lang="ru-RU" dirty="0"/>
              <a:t> конкурентоспособности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F6550-6F12-DE80-C6E3-A897FFE0E38F}"/>
              </a:ext>
            </a:extLst>
          </p:cNvPr>
          <p:cNvSpPr txBox="1"/>
          <p:nvPr/>
        </p:nvSpPr>
        <p:spPr>
          <a:xfrm>
            <a:off x="1757779" y="1897184"/>
            <a:ext cx="150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332 306 руб.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0D880-D4F5-EC18-B61F-1D741DAD4788}"/>
              </a:ext>
            </a:extLst>
          </p:cNvPr>
          <p:cNvSpPr txBox="1"/>
          <p:nvPr/>
        </p:nvSpPr>
        <p:spPr>
          <a:xfrm>
            <a:off x="5748291" y="1897184"/>
            <a:ext cx="1926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486 500 руб.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D24B0-BF91-4844-796E-4FCFCEB98042}"/>
              </a:ext>
            </a:extLst>
          </p:cNvPr>
          <p:cNvSpPr txBox="1"/>
          <p:nvPr/>
        </p:nvSpPr>
        <p:spPr>
          <a:xfrm>
            <a:off x="9684058" y="1897184"/>
            <a:ext cx="150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154 190 руб.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48ABE0-96C9-4247-ADAD-5A39A482DFAA}"/>
              </a:ext>
            </a:extLst>
          </p:cNvPr>
          <p:cNvSpPr txBox="1"/>
          <p:nvPr/>
        </p:nvSpPr>
        <p:spPr>
          <a:xfrm>
            <a:off x="3308563" y="3380898"/>
            <a:ext cx="140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D1334A-5A03-BB89-FE4E-15C4694D59A3}"/>
              </a:ext>
            </a:extLst>
          </p:cNvPr>
          <p:cNvSpPr txBox="1"/>
          <p:nvPr/>
        </p:nvSpPr>
        <p:spPr>
          <a:xfrm>
            <a:off x="7137646" y="3335030"/>
            <a:ext cx="230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 года 2 месяца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724FC1-DB36-5C43-38B9-1F7EC67BE7F9}"/>
              </a:ext>
            </a:extLst>
          </p:cNvPr>
          <p:cNvSpPr txBox="1"/>
          <p:nvPr/>
        </p:nvSpPr>
        <p:spPr>
          <a:xfrm>
            <a:off x="5308846" y="4935456"/>
            <a:ext cx="55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2,4</a:t>
            </a:r>
          </a:p>
        </p:txBody>
      </p:sp>
      <p:pic>
        <p:nvPicPr>
          <p:cNvPr id="16" name="Рисунок 15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48749B2-436A-561B-989E-8AAB3F730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84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CAB9543F-4229-C20E-97E7-14BBF854DF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897DB8C-1D9C-D13D-123E-63F179FA6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06" y="1730554"/>
            <a:ext cx="11483788" cy="318268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4728D79-AFFD-A2C7-7394-EE4D3E2BFBF8}"/>
              </a:ext>
            </a:extLst>
          </p:cNvPr>
          <p:cNvSpPr txBox="1"/>
          <p:nvPr/>
        </p:nvSpPr>
        <p:spPr>
          <a:xfrm>
            <a:off x="6929717" y="571417"/>
            <a:ext cx="46644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Диаграмма Ганта</a:t>
            </a:r>
          </a:p>
        </p:txBody>
      </p:sp>
      <p:pic>
        <p:nvPicPr>
          <p:cNvPr id="2" name="Рисунок 1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E3EC32D-3617-AC71-62F5-31159CC831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60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конверт, дизайн, текст">
            <a:extLst>
              <a:ext uri="{FF2B5EF4-FFF2-40B4-BE49-F238E27FC236}">
                <a16:creationId xmlns:a16="http://schemas.microsoft.com/office/drawing/2014/main" id="{2FDAF536-E922-5E10-1C90-42BA8329AC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F9C79F-8230-EF95-461A-F3974948918B}"/>
              </a:ext>
            </a:extLst>
          </p:cNvPr>
          <p:cNvSpPr txBox="1"/>
          <p:nvPr/>
        </p:nvSpPr>
        <p:spPr>
          <a:xfrm>
            <a:off x="4516153" y="2659559"/>
            <a:ext cx="31596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+mj-lt"/>
              </a:rPr>
              <a:t>Заключение</a:t>
            </a:r>
          </a:p>
        </p:txBody>
      </p:sp>
      <p:pic>
        <p:nvPicPr>
          <p:cNvPr id="3" name="Рисунок 2" descr="Изображение выглядит как шаблон, Симметрия, круг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C68BC55-4889-C7A0-75F1-46BE76718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33" y="5494607"/>
            <a:ext cx="1363393" cy="13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4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274</Words>
  <Application>Microsoft Office PowerPoint</Application>
  <PresentationFormat>Широкоэкранный</PresentationFormat>
  <Paragraphs>74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сильченков</dc:creator>
  <cp:lastModifiedBy>данил сильченков</cp:lastModifiedBy>
  <cp:revision>7</cp:revision>
  <dcterms:created xsi:type="dcterms:W3CDTF">2026-05-13T18:14:05Z</dcterms:created>
  <dcterms:modified xsi:type="dcterms:W3CDTF">2026-05-22T17:05:16Z</dcterms:modified>
</cp:coreProperties>
</file>